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60" r:id="rId4"/>
    <p:sldId id="259" r:id="rId5"/>
    <p:sldId id="262" r:id="rId6"/>
    <p:sldId id="261" r:id="rId7"/>
    <p:sldId id="271" r:id="rId8"/>
    <p:sldId id="272" r:id="rId9"/>
    <p:sldId id="268" r:id="rId10"/>
    <p:sldId id="273" r:id="rId11"/>
    <p:sldId id="281" r:id="rId12"/>
    <p:sldId id="278" r:id="rId13"/>
    <p:sldId id="274" r:id="rId14"/>
    <p:sldId id="275" r:id="rId15"/>
    <p:sldId id="276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5B379-8371-4F65-86E0-05DF8AB18B43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10AD0-3F24-44E4-8B90-90A2B52C3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57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AD0-3F24-44E4-8B90-90A2B52C392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129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05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73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34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96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61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41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732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12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921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31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069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416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37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277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909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35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13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870A58A-B401-4134-B3AB-802C28C4DD46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29F9E23-F936-459B-8AB9-2A5DE388F5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18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fif"/><Relationship Id="rId4" Type="http://schemas.openxmlformats.org/officeDocument/2006/relationships/image" Target="../media/image16.jf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fif"/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B39C-3794-A6D6-67D1-AB834A4C08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Marketing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7BA9C-C0FA-926F-3724-15FEF6FF43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0" cap="none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Insights to the Marketing Team in Food &amp; Beverage Industry</a:t>
            </a: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A73465-3528-037B-0ECB-30A4D3F82775}"/>
              </a:ext>
            </a:extLst>
          </p:cNvPr>
          <p:cNvSpPr txBox="1"/>
          <p:nvPr/>
        </p:nvSpPr>
        <p:spPr>
          <a:xfrm>
            <a:off x="9077495" y="5735637"/>
            <a:ext cx="253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By Pranoti Malgunkar</a:t>
            </a:r>
          </a:p>
        </p:txBody>
      </p:sp>
    </p:spTree>
    <p:extLst>
      <p:ext uri="{BB962C8B-B14F-4D97-AF65-F5344CB8AC3E}">
        <p14:creationId xmlns:p14="http://schemas.microsoft.com/office/powerpoint/2010/main" val="559148936"/>
      </p:ext>
    </p:extLst>
  </p:cSld>
  <p:clrMapOvr>
    <a:masterClrMapping/>
  </p:clrMapOvr>
  <p:transition spd="slow" advTm="1307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9D3B-C2F6-3C46-1B78-83ED73EA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35254-9176-5479-FF70-8D7F1363A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b="1" dirty="0"/>
              <a:t>Introduction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1" dirty="0"/>
              <a:t>Task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1" dirty="0"/>
              <a:t>Insights and Recommendation's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1" dirty="0"/>
              <a:t>Suggestions</a:t>
            </a:r>
          </a:p>
        </p:txBody>
      </p:sp>
    </p:spTree>
    <p:extLst>
      <p:ext uri="{BB962C8B-B14F-4D97-AF65-F5344CB8AC3E}">
        <p14:creationId xmlns:p14="http://schemas.microsoft.com/office/powerpoint/2010/main" val="230166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C929-D626-CBFB-39F2-34D380B7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/>
              <a:t>Introduction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E0D6-551C-0CAD-47C8-DF8E46523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019378"/>
          </a:xfrm>
        </p:spPr>
        <p:txBody>
          <a:bodyPr/>
          <a:lstStyle/>
          <a:p>
            <a:pPr marL="0" indent="0">
              <a:buNone/>
            </a:pPr>
            <a:r>
              <a:rPr lang="en-GB" sz="2400" i="0" dirty="0">
                <a:solidFill>
                  <a:srgbClr val="000000"/>
                </a:solidFill>
                <a:effectLst/>
              </a:rPr>
              <a:t>CodeX is a German beverage company that is aiming to make its mark in the Indian market. A few months ago, they launched their energy drink in 10 cities in India.</a:t>
            </a:r>
          </a:p>
          <a:p>
            <a:pPr marL="0" indent="0">
              <a:buNone/>
            </a:pPr>
            <a:r>
              <a:rPr lang="en-GB" sz="2400" i="0" dirty="0">
                <a:solidFill>
                  <a:srgbClr val="000000"/>
                </a:solidFill>
                <a:effectLst/>
              </a:rPr>
              <a:t>They conducted a survey in those 10 cities and received results from 10k respondents. </a:t>
            </a:r>
            <a:r>
              <a:rPr lang="en-GB" sz="2400" dirty="0">
                <a:solidFill>
                  <a:srgbClr val="000000"/>
                </a:solidFill>
              </a:rPr>
              <a:t>M</a:t>
            </a:r>
            <a:r>
              <a:rPr lang="en-GB" sz="2400" i="0" dirty="0">
                <a:solidFill>
                  <a:srgbClr val="000000"/>
                </a:solidFill>
                <a:effectLst/>
              </a:rPr>
              <a:t>arketing data analyst </a:t>
            </a:r>
            <a:r>
              <a:rPr lang="en-GB" sz="2400" dirty="0">
                <a:solidFill>
                  <a:srgbClr val="000000"/>
                </a:solidFill>
              </a:rPr>
              <a:t>have</a:t>
            </a:r>
            <a:r>
              <a:rPr lang="en-GB" sz="2400" i="0" dirty="0">
                <a:solidFill>
                  <a:srgbClr val="000000"/>
                </a:solidFill>
                <a:effectLst/>
              </a:rPr>
              <a:t> tasked to convert these survey results to meaningful insights which the team can use to drive actions.</a:t>
            </a:r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851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75BE-7DCA-14D6-4A5D-DFB78D93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B5DF1-06F2-37C8-612E-99124C6FE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44491"/>
            <a:ext cx="9667721" cy="244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</a:rPr>
              <a:t>We work as M</a:t>
            </a:r>
            <a:r>
              <a:rPr lang="en-GB" sz="2400" i="0" dirty="0">
                <a:solidFill>
                  <a:srgbClr val="000000"/>
                </a:solidFill>
                <a:effectLst/>
              </a:rPr>
              <a:t>arketing data analyst. We </a:t>
            </a:r>
            <a:r>
              <a:rPr lang="en-GB" sz="2400" dirty="0">
                <a:solidFill>
                  <a:srgbClr val="000000"/>
                </a:solidFill>
              </a:rPr>
              <a:t>have</a:t>
            </a:r>
            <a:r>
              <a:rPr lang="en-GB" sz="2400" i="0" dirty="0">
                <a:solidFill>
                  <a:srgbClr val="000000"/>
                </a:solidFill>
                <a:effectLst/>
              </a:rPr>
              <a:t> tasked to convert these survey results to meaningful and actionable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i="0" dirty="0">
                <a:solidFill>
                  <a:srgbClr val="000000"/>
                </a:solidFill>
                <a:effectLst/>
              </a:rPr>
              <a:t>insights for CodeX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i="0" dirty="0">
                <a:solidFill>
                  <a:srgbClr val="000000"/>
                </a:solidFill>
                <a:effectLst/>
              </a:rPr>
              <a:t>Chief Marketing Officer.</a:t>
            </a:r>
          </a:p>
        </p:txBody>
      </p:sp>
    </p:spTree>
    <p:extLst>
      <p:ext uri="{BB962C8B-B14F-4D97-AF65-F5344CB8AC3E}">
        <p14:creationId xmlns:p14="http://schemas.microsoft.com/office/powerpoint/2010/main" val="101745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F0BB-AAFB-CD13-572A-F3F08EF7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B91D7-0E7B-7599-068D-B7D221C12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Increase Brand Awareness</a:t>
            </a:r>
          </a:p>
          <a:p>
            <a:r>
              <a:rPr lang="en-GB" sz="2400" dirty="0"/>
              <a:t>Increase Market shares</a:t>
            </a:r>
          </a:p>
          <a:p>
            <a:r>
              <a:rPr lang="en-GB" sz="2400" dirty="0"/>
              <a:t>Identify  target consumers</a:t>
            </a:r>
          </a:p>
          <a:p>
            <a:r>
              <a:rPr lang="en-GB" sz="2400" dirty="0"/>
              <a:t>Product development</a:t>
            </a:r>
          </a:p>
        </p:txBody>
      </p:sp>
    </p:spTree>
    <p:extLst>
      <p:ext uri="{BB962C8B-B14F-4D97-AF65-F5344CB8AC3E}">
        <p14:creationId xmlns:p14="http://schemas.microsoft.com/office/powerpoint/2010/main" val="88439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FF94-5309-06B6-62F4-6D9AEF387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Insights And Recommendation's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338D963-C60B-85B9-DDEB-B65766377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97" y="5530850"/>
            <a:ext cx="5468202" cy="70696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19–30 age group accounts for approximately 56% of total energy drink consumption.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0C6D2B-57F6-78F9-0FBE-1D080EBEA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281249"/>
            <a:ext cx="4941045" cy="28960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5A4BD8-6D13-C2EE-74B9-A90B3F0B9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26" y="2281248"/>
            <a:ext cx="4576845" cy="28960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9520DA1-1143-E55B-3E42-B26CB9C9E586}"/>
              </a:ext>
            </a:extLst>
          </p:cNvPr>
          <p:cNvSpPr txBox="1"/>
          <p:nvPr/>
        </p:nvSpPr>
        <p:spPr>
          <a:xfrm>
            <a:off x="8497000" y="5593204"/>
            <a:ext cx="283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60% consumers are male</a:t>
            </a:r>
          </a:p>
        </p:txBody>
      </p:sp>
      <p:sp>
        <p:nvSpPr>
          <p:cNvPr id="15" name="Arrow: Curved Left 14">
            <a:extLst>
              <a:ext uri="{FF2B5EF4-FFF2-40B4-BE49-F238E27FC236}">
                <a16:creationId xmlns:a16="http://schemas.microsoft.com/office/drawing/2014/main" id="{80B5391B-5850-EDD4-AED3-AF92ADD5F2E4}"/>
              </a:ext>
            </a:extLst>
          </p:cNvPr>
          <p:cNvSpPr/>
          <p:nvPr/>
        </p:nvSpPr>
        <p:spPr>
          <a:xfrm rot="8619497">
            <a:off x="7761349" y="5002404"/>
            <a:ext cx="467446" cy="9516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8960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FDB78D-94B1-9B65-18AF-63C5A229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449" y="3134353"/>
            <a:ext cx="4899005" cy="2862322"/>
          </a:xfrm>
          <a:prstGeom prst="rect">
            <a:avLst/>
          </a:prstGeom>
        </p:spPr>
      </p:pic>
      <p:sp>
        <p:nvSpPr>
          <p:cNvPr id="19" name="Rectangle 6">
            <a:extLst>
              <a:ext uri="{FF2B5EF4-FFF2-40B4-BE49-F238E27FC236}">
                <a16:creationId xmlns:a16="http://schemas.microsoft.com/office/drawing/2014/main" id="{BF80787A-A4E4-CDB5-5E9C-5BB9207E6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29" y="2970580"/>
            <a:ext cx="602722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Online advertising is the most effective channel, reaching the majority of young consumers.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Approximately </a:t>
            </a:r>
            <a:r>
              <a:rPr lang="en-US" altLang="en-US" dirty="0">
                <a:latin typeface="Arial" panose="020B0604020202020204" pitchFamily="34" charset="0"/>
              </a:rPr>
              <a:t>49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% of the audience reached through online ads falls within the 19–30 age group.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TV commercials account for 32% of the reach.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GB" dirty="0"/>
              <a:t>Caffeine(39%) and  vitamins(25%)  are most preferred ingredient.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GB" dirty="0"/>
              <a:t>Consumer express a preference for reduced sugar content and the inclusion of more natural ingredients in energy drinks.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683FD2-37AC-6445-3609-9D7964A2B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449" y="431550"/>
            <a:ext cx="5276596" cy="23639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CA83F0-DAE9-E03A-3FE0-67B4FEF3F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" y="1"/>
            <a:ext cx="5554639" cy="26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3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5DE8856-8FE4-523F-8D8B-ACE0CD12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209" y="3704882"/>
            <a:ext cx="4596261" cy="28483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D6BB3D-8FA4-43EF-96F0-80F6B0B79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07" y="0"/>
            <a:ext cx="5836693" cy="30161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A8A12-4F4A-513B-720F-72DF298700D9}"/>
              </a:ext>
            </a:extLst>
          </p:cNvPr>
          <p:cNvSpPr txBox="1">
            <a:spLocks/>
          </p:cNvSpPr>
          <p:nvPr/>
        </p:nvSpPr>
        <p:spPr>
          <a:xfrm>
            <a:off x="526975" y="4524882"/>
            <a:ext cx="5819234" cy="272142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Customers primarily consume energy drinks for sports/exercise and studying or working late so that they increased energy and focus.</a:t>
            </a:r>
          </a:p>
          <a:p>
            <a:r>
              <a:rPr lang="en-GB" dirty="0">
                <a:solidFill>
                  <a:schemeClr val="tx1"/>
                </a:solidFill>
              </a:rPr>
              <a:t>Most of consumer doesn’t know about energy drink.</a:t>
            </a:r>
          </a:p>
          <a:p>
            <a:r>
              <a:rPr lang="en-GB" dirty="0">
                <a:solidFill>
                  <a:schemeClr val="tx1"/>
                </a:solidFill>
              </a:rPr>
              <a:t>Need to focus on Tier2 cities.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3CEBD2-79EE-761E-ECB4-1E1644F51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07" y="3179495"/>
            <a:ext cx="2381211" cy="11401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2797C7-4930-EC4F-078F-FF18A0B08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91668"/>
            <a:ext cx="5836692" cy="30932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879F79-8AFA-B189-4EF6-BCA1F78FED45}"/>
              </a:ext>
            </a:extLst>
          </p:cNvPr>
          <p:cNvSpPr txBox="1"/>
          <p:nvPr/>
        </p:nvSpPr>
        <p:spPr>
          <a:xfrm>
            <a:off x="3293335" y="3479213"/>
            <a:ext cx="1842448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GB" b="1" dirty="0">
                <a:ln/>
                <a:solidFill>
                  <a:schemeClr val="accent3"/>
                </a:solidFill>
              </a:rPr>
              <a:t>GOOD..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0E5B6690-0D7E-0D98-4931-E59E574EC2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40523" y="3704882"/>
            <a:ext cx="557603" cy="28732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3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8B361E-EA27-B7F1-0E48-C9A7BE41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883" y="151900"/>
            <a:ext cx="4611083" cy="23222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42CF3F-7A1C-9124-1AAA-7C867A6E0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54312"/>
            <a:ext cx="5666166" cy="2105910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189EBCE-ED61-4779-F4D3-32B07F3C44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-1" y="4569327"/>
            <a:ext cx="11054687" cy="2322285"/>
          </a:xfrm>
        </p:spPr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Most of consumer purchase product from Supermarket.</a:t>
            </a:r>
          </a:p>
          <a:p>
            <a:r>
              <a:rPr lang="en-GB" dirty="0">
                <a:solidFill>
                  <a:schemeClr val="tx1"/>
                </a:solidFill>
              </a:rPr>
              <a:t>Approximately 40% od consumers prefer compact and portable cans, while 31% express a preference for innovative bottle design.</a:t>
            </a:r>
          </a:p>
          <a:p>
            <a:r>
              <a:rPr lang="en-GB" dirty="0">
                <a:solidFill>
                  <a:schemeClr val="tx1"/>
                </a:solidFill>
              </a:rPr>
              <a:t>Price range preferred between 50-150.</a:t>
            </a:r>
          </a:p>
          <a:p>
            <a:endParaRPr lang="en-GB" dirty="0"/>
          </a:p>
        </p:txBody>
      </p:sp>
      <p:pic>
        <p:nvPicPr>
          <p:cNvPr id="15" name="Content Placeholder 10">
            <a:extLst>
              <a:ext uri="{FF2B5EF4-FFF2-40B4-BE49-F238E27FC236}">
                <a16:creationId xmlns:a16="http://schemas.microsoft.com/office/drawing/2014/main" id="{10E88282-A89B-77D8-E5A0-5BE2454A3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08" y="37874"/>
            <a:ext cx="5649179" cy="329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2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8BDC-2131-3460-529B-9B09BD0D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Suggestion for improvement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4620B-8DBE-A64A-D7E0-39C9DD3487E5}"/>
              </a:ext>
            </a:extLst>
          </p:cNvPr>
          <p:cNvSpPr txBox="1"/>
          <p:nvPr/>
        </p:nvSpPr>
        <p:spPr>
          <a:xfrm>
            <a:off x="903027" y="2907839"/>
            <a:ext cx="104405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Availability of product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Health concern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Limited Edition Packing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Add more natural ingredients, reduce sugar content and add more flavours.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Improve Positive Response rate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4161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le of black tea leaves and a pile of green leaves&#10;&#10;AI-generated content may be incorrect.">
            <a:extLst>
              <a:ext uri="{FF2B5EF4-FFF2-40B4-BE49-F238E27FC236}">
                <a16:creationId xmlns:a16="http://schemas.microsoft.com/office/drawing/2014/main" id="{8B0C3A8E-FAB0-DC42-2C48-203C29902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029" y="19542"/>
            <a:ext cx="2714172" cy="1754326"/>
          </a:xfrm>
          <a:prstGeom prst="rect">
            <a:avLst/>
          </a:prstGeom>
        </p:spPr>
      </p:pic>
      <p:pic>
        <p:nvPicPr>
          <p:cNvPr id="3" name="Picture 2" descr="A bunch of red fruit with eyes&#10;&#10;AI-generated content may be incorrect.">
            <a:extLst>
              <a:ext uri="{FF2B5EF4-FFF2-40B4-BE49-F238E27FC236}">
                <a16:creationId xmlns:a16="http://schemas.microsoft.com/office/drawing/2014/main" id="{FE434FF0-8029-1E17-49CC-6E72D78D0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431" y="1640796"/>
            <a:ext cx="2505075" cy="1409700"/>
          </a:xfrm>
          <a:prstGeom prst="rect">
            <a:avLst/>
          </a:prstGeom>
        </p:spPr>
      </p:pic>
      <p:pic>
        <p:nvPicPr>
          <p:cNvPr id="4" name="Picture 3" descr="A group of brown fruit&#10;&#10;AI-generated content may be incorrect.">
            <a:extLst>
              <a:ext uri="{FF2B5EF4-FFF2-40B4-BE49-F238E27FC236}">
                <a16:creationId xmlns:a16="http://schemas.microsoft.com/office/drawing/2014/main" id="{C41CC5E0-793F-4809-3719-B05BC4C0E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819" y="4889557"/>
            <a:ext cx="2276475" cy="1409700"/>
          </a:xfrm>
          <a:prstGeom prst="rect">
            <a:avLst/>
          </a:prstGeom>
        </p:spPr>
      </p:pic>
      <p:pic>
        <p:nvPicPr>
          <p:cNvPr id="5" name="Picture 4" descr="A spoon full of salt&#10;&#10;AI-generated content may be incorrect.">
            <a:extLst>
              <a:ext uri="{FF2B5EF4-FFF2-40B4-BE49-F238E27FC236}">
                <a16:creationId xmlns:a16="http://schemas.microsoft.com/office/drawing/2014/main" id="{0108A276-1E47-D536-F5E0-20E88E1476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8" y="3242675"/>
            <a:ext cx="2228850" cy="1409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0B8787-C7D5-ACE7-5A24-AC03B7A7DD74}"/>
              </a:ext>
            </a:extLst>
          </p:cNvPr>
          <p:cNvSpPr txBox="1"/>
          <p:nvPr/>
        </p:nvSpPr>
        <p:spPr>
          <a:xfrm>
            <a:off x="325032" y="233676"/>
            <a:ext cx="609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Green tea : provides a </a:t>
            </a:r>
            <a:r>
              <a:rPr lang="en-GB" b="1" dirty="0"/>
              <a:t>natural source of caffeine</a:t>
            </a:r>
            <a:r>
              <a:rPr lang="en-GB" dirty="0"/>
              <a:t> with </a:t>
            </a:r>
            <a:r>
              <a:rPr lang="en-GB" b="1" dirty="0"/>
              <a:t>L-theanine</a:t>
            </a:r>
            <a:r>
              <a:rPr lang="en-GB" dirty="0"/>
              <a:t>, offering smooth and focused energy without jitters or crashes.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It’s rich in </a:t>
            </a:r>
            <a:r>
              <a:rPr lang="en-GB" b="1" dirty="0"/>
              <a:t>antioxidants like EGCG</a:t>
            </a:r>
            <a:r>
              <a:rPr lang="en-GB" dirty="0"/>
              <a:t>, which support metabolism, heart health, and overall wellness.</a:t>
            </a:r>
            <a:br>
              <a:rPr lang="en-GB" dirty="0"/>
            </a:br>
            <a:r>
              <a:rPr lang="en-GB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DD6D7E-1CB0-5E8C-5B62-74C75E51C3FF}"/>
              </a:ext>
            </a:extLst>
          </p:cNvPr>
          <p:cNvSpPr txBox="1"/>
          <p:nvPr/>
        </p:nvSpPr>
        <p:spPr>
          <a:xfrm>
            <a:off x="301721" y="2082163"/>
            <a:ext cx="609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Guarana : Natural caffeine source for sustained energy and mental alertness</a:t>
            </a:r>
            <a:br>
              <a:rPr lang="en-GB" dirty="0"/>
            </a:br>
            <a:r>
              <a:rPr lang="en-GB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969DC7-A782-3EEB-945B-D537BA22EAE5}"/>
              </a:ext>
            </a:extLst>
          </p:cNvPr>
          <p:cNvSpPr txBox="1"/>
          <p:nvPr/>
        </p:nvSpPr>
        <p:spPr>
          <a:xfrm>
            <a:off x="5065485" y="4869998"/>
            <a:ext cx="61830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Monk fruit : is a </a:t>
            </a:r>
            <a:r>
              <a:rPr lang="en-GB" b="1" dirty="0"/>
              <a:t>natural, zero-calorie sweetener</a:t>
            </a:r>
            <a:r>
              <a:rPr lang="en-GB" dirty="0"/>
              <a:t> offering sweetness without raising blood sugar levels.</a:t>
            </a:r>
            <a:br>
              <a:rPr lang="en-GB" dirty="0"/>
            </a:br>
            <a:r>
              <a:rPr lang="en-GB" dirty="0"/>
              <a:t>It’s rich in </a:t>
            </a:r>
            <a:r>
              <a:rPr lang="en-GB" b="1" dirty="0"/>
              <a:t>antioxidants</a:t>
            </a:r>
            <a:r>
              <a:rPr lang="en-GB" dirty="0"/>
              <a:t> and is a popular choice for creating healthier, low-sugar drinks.</a:t>
            </a:r>
            <a:br>
              <a:rPr lang="en-GB" dirty="0"/>
            </a:br>
            <a:r>
              <a:rPr lang="en-GB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A28B8B-DE96-8E49-937C-1BA1AD46626B}"/>
              </a:ext>
            </a:extLst>
          </p:cNvPr>
          <p:cNvSpPr txBox="1"/>
          <p:nvPr/>
        </p:nvSpPr>
        <p:spPr>
          <a:xfrm>
            <a:off x="4891314" y="3276184"/>
            <a:ext cx="68305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Stevia is a </a:t>
            </a:r>
            <a:r>
              <a:rPr lang="en-GB" b="1" dirty="0"/>
              <a:t>natural, zero-calorie sweetener</a:t>
            </a:r>
            <a:r>
              <a:rPr lang="en-GB" dirty="0"/>
              <a:t> making it ideal for reducing sugar without losing sweetness.</a:t>
            </a:r>
            <a:br>
              <a:rPr lang="en-GB" dirty="0"/>
            </a:br>
            <a:r>
              <a:rPr lang="en-GB" dirty="0"/>
              <a:t>It helps maintain </a:t>
            </a:r>
            <a:r>
              <a:rPr lang="en-GB" b="1" dirty="0"/>
              <a:t>stable blood sugar levels</a:t>
            </a:r>
            <a:r>
              <a:rPr lang="en-GB" dirty="0"/>
              <a:t> and supports healthier, low-calorie beverage options.</a:t>
            </a:r>
            <a:br>
              <a:rPr lang="en-GB" dirty="0"/>
            </a:b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8502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EE82-8A2B-2F65-1688-F2D5A0D6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Price and Packing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E3DB-4E44-644F-B747-3A64D65FE2F8}"/>
              </a:ext>
            </a:extLst>
          </p:cNvPr>
          <p:cNvSpPr txBox="1">
            <a:spLocks/>
          </p:cNvSpPr>
          <p:nvPr/>
        </p:nvSpPr>
        <p:spPr>
          <a:xfrm>
            <a:off x="1277601" y="2361063"/>
            <a:ext cx="9777086" cy="391690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Small packs: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Priced up 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₹100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affordable for budget-conscious or occasional buyers.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Large packs (cans):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Priced up 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₹150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ideal for regular consumers or family use.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Content-based pricing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to meet varied customer needs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Tiered pricing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increases accessibility and supports wider market reach.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r>
              <a:rPr lang="en-GB" dirty="0">
                <a:solidFill>
                  <a:schemeClr val="tx1"/>
                </a:solidFill>
              </a:rPr>
              <a:t>Approximately 40% of consumers prefer compact and portable cans, while 31% express a preference for innovative bottle design.</a:t>
            </a:r>
            <a:r>
              <a:rPr lang="en-GB" dirty="0"/>
              <a:t> </a:t>
            </a:r>
          </a:p>
          <a:p>
            <a:r>
              <a:rPr lang="en-GB" dirty="0"/>
              <a:t>Recommend </a:t>
            </a:r>
            <a:r>
              <a:rPr lang="en-GB" b="1" dirty="0"/>
              <a:t>offering both packaging options initially</a:t>
            </a:r>
            <a:r>
              <a:rPr lang="en-GB" dirty="0"/>
              <a:t> and </a:t>
            </a:r>
            <a:r>
              <a:rPr lang="en-GB" b="1" dirty="0"/>
              <a:t>monitoring consumer preferences over time</a:t>
            </a:r>
            <a:r>
              <a:rPr lang="en-GB" dirty="0"/>
              <a:t> to scale up production for the more popular format.</a:t>
            </a:r>
          </a:p>
          <a:p>
            <a:r>
              <a:rPr lang="en-GB" dirty="0"/>
              <a:t>special discounts on </a:t>
            </a:r>
            <a:r>
              <a:rPr lang="en-GB" b="1" dirty="0"/>
              <a:t>6-can</a:t>
            </a:r>
            <a:r>
              <a:rPr lang="en-GB" dirty="0"/>
              <a:t> packs during festivals or bulk purchases to drive higher sales.</a:t>
            </a: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52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9128-2D22-4A9A-7E4E-CD29A5B8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Suggestion for marketing campaigns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C4520B2-B930-4352-3B2F-D68912894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84" y="2329513"/>
            <a:ext cx="1041963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</a:rPr>
              <a:t>Social Media </a:t>
            </a:r>
            <a:r>
              <a:rPr lang="en-US" dirty="0">
                <a:latin typeface="Arial" panose="020B0604020202020204" pitchFamily="34" charset="0"/>
              </a:rPr>
              <a:t>:</a:t>
            </a:r>
            <a:r>
              <a:rPr lang="en-GB" dirty="0"/>
              <a:t>Post fun and interesting content on Instagram, TikTok, or X to reach more people and make your brand popular.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</a:pPr>
            <a:endParaRPr 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</a:rPr>
              <a:t>Email marketing </a:t>
            </a:r>
            <a:r>
              <a:rPr lang="en-US" dirty="0">
                <a:latin typeface="Arial" panose="020B0604020202020204" pitchFamily="34" charset="0"/>
              </a:rPr>
              <a:t>:</a:t>
            </a:r>
            <a:r>
              <a:rPr lang="en-GB" dirty="0"/>
              <a:t>Send emails with tips, offers, or updates to keep customers interested and buying again.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</a:pPr>
            <a:endParaRPr 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</a:rPr>
              <a:t>Influencer Marketing  </a:t>
            </a:r>
            <a:r>
              <a:rPr lang="en-US" dirty="0">
                <a:latin typeface="Arial" panose="020B0604020202020204" pitchFamily="34" charset="0"/>
              </a:rPr>
              <a:t>: </a:t>
            </a:r>
            <a:r>
              <a:rPr lang="en-GB" dirty="0"/>
              <a:t>Work with small influencers who your audience follows to promote your drink in a trusted way.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</a:pPr>
            <a:endParaRPr lang="en-US" dirty="0"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</a:rPr>
              <a:t>Guerilla Marketing </a:t>
            </a:r>
            <a:r>
              <a:rPr lang="en-US" dirty="0">
                <a:latin typeface="Arial" panose="020B0604020202020204" pitchFamily="34" charset="0"/>
              </a:rPr>
              <a:t>: </a:t>
            </a:r>
            <a:r>
              <a:rPr lang="en-GB" dirty="0"/>
              <a:t>Use creative, low-cost ideas like pop-up stalls or contests to get people’s attention locally. Also strengthen partnerships with local supermarkets for increased visibility and availability.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tabLst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801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52E98-7B0B-70A7-1BA2-4811D2082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Suggestion for brand ambassador 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CE77665-5F96-097A-3A1A-DB56BA219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81" y="2696109"/>
            <a:ext cx="75148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Virat is a Youth Icon and famous for his discipline towards his game and fitness. Almost every person is follow his style of living.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He has 256M followers (Instagram) social Media.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Partnering with him can be costly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48255F3-A51D-D9D7-25E7-8195C8E60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81" y="4493824"/>
            <a:ext cx="799249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Sunil Chhetri is a Football Legend and famous for his dedication, discipline, and fitness. He is an inspiration for young athletes and football fans across India.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He has 8M+ followers on Instagram and a strong social media presence.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dirty="0"/>
              <a:t>Partnering with him can be moderately costly but highly impactful for sports and energy-related brands.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6CDE8-4F6C-8F8F-9154-F4F7B17C18FC}"/>
              </a:ext>
            </a:extLst>
          </p:cNvPr>
          <p:cNvSpPr txBox="1"/>
          <p:nvPr/>
        </p:nvSpPr>
        <p:spPr>
          <a:xfrm>
            <a:off x="668740" y="2203692"/>
            <a:ext cx="1733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Virat Kohli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4C826-7011-D33A-87A0-F458074D7E0E}"/>
              </a:ext>
            </a:extLst>
          </p:cNvPr>
          <p:cNvSpPr txBox="1"/>
          <p:nvPr/>
        </p:nvSpPr>
        <p:spPr>
          <a:xfrm>
            <a:off x="668740" y="4019523"/>
            <a:ext cx="1733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Sunil Chhetri </a:t>
            </a:r>
          </a:p>
        </p:txBody>
      </p:sp>
      <p:pic>
        <p:nvPicPr>
          <p:cNvPr id="8" name="Picture 7" descr="A person with a ponytail wearing a blue shirt&#10;&#10;AI-generated content may be incorrect.">
            <a:extLst>
              <a:ext uri="{FF2B5EF4-FFF2-40B4-BE49-F238E27FC236}">
                <a16:creationId xmlns:a16="http://schemas.microsoft.com/office/drawing/2014/main" id="{A61002EA-E213-7288-87DF-B182DAAAD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190" y="4318861"/>
            <a:ext cx="1924050" cy="2381250"/>
          </a:xfrm>
          <a:prstGeom prst="rect">
            <a:avLst/>
          </a:prstGeom>
        </p:spPr>
      </p:pic>
      <p:pic>
        <p:nvPicPr>
          <p:cNvPr id="10" name="Picture 9" descr="A person doing push ups&#10;&#10;AI-generated content may be incorrect.">
            <a:extLst>
              <a:ext uri="{FF2B5EF4-FFF2-40B4-BE49-F238E27FC236}">
                <a16:creationId xmlns:a16="http://schemas.microsoft.com/office/drawing/2014/main" id="{10A82EAB-EB18-B521-3A46-3CB82F631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686" y="2539139"/>
            <a:ext cx="27813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2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C760-7826-83A2-637F-4D0EE99C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Suggestion for Target audience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BA8A954-EAE4-04A1-5370-007F4F920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127" y="3042804"/>
            <a:ext cx="48458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b="1" dirty="0"/>
              <a:t>Target Audience</a:t>
            </a:r>
            <a:br>
              <a:rPr lang="en-GB" dirty="0"/>
            </a:br>
            <a:r>
              <a:rPr lang="en-GB" dirty="0"/>
              <a:t>CodeX  energy drink primarily targets </a:t>
            </a:r>
            <a:r>
              <a:rPr lang="en-GB" b="1" dirty="0"/>
              <a:t>men aged 19–30</a:t>
            </a:r>
            <a:r>
              <a:rPr lang="en-GB" dirty="0"/>
              <a:t>, who lead active lifestyles and seek products that boost energy and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CA851F-CF56-08F9-9518-0E0CE2ECA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933" y="3452336"/>
            <a:ext cx="4576845" cy="2896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7215A9-6FED-46D8-6AE6-3CBE8CBD1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191" y="2294408"/>
            <a:ext cx="3653605" cy="22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4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02EDAB-86C0-238F-8981-927C3BA34981}"/>
              </a:ext>
            </a:extLst>
          </p:cNvPr>
          <p:cNvSpPr txBox="1"/>
          <p:nvPr/>
        </p:nvSpPr>
        <p:spPr>
          <a:xfrm>
            <a:off x="2893325" y="2864276"/>
            <a:ext cx="70558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YOU….</a:t>
            </a:r>
          </a:p>
        </p:txBody>
      </p:sp>
    </p:spTree>
    <p:extLst>
      <p:ext uri="{BB962C8B-B14F-4D97-AF65-F5344CB8AC3E}">
        <p14:creationId xmlns:p14="http://schemas.microsoft.com/office/powerpoint/2010/main" val="4221903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1239</TotalTime>
  <Words>821</Words>
  <Application>Microsoft Office PowerPoint</Application>
  <PresentationFormat>Widescreen</PresentationFormat>
  <Paragraphs>73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Wingdings</vt:lpstr>
      <vt:lpstr>Wingdings 3</vt:lpstr>
      <vt:lpstr>Ion Boardroom</vt:lpstr>
      <vt:lpstr>Marketing Insights</vt:lpstr>
      <vt:lpstr>Agenda </vt:lpstr>
      <vt:lpstr> Introduction </vt:lpstr>
      <vt:lpstr>Task</vt:lpstr>
      <vt:lpstr>Main Goals</vt:lpstr>
      <vt:lpstr>Insights And Recommendation's</vt:lpstr>
      <vt:lpstr>PowerPoint Presentation</vt:lpstr>
      <vt:lpstr>PowerPoint Presentation</vt:lpstr>
      <vt:lpstr>PowerPoint Presentation</vt:lpstr>
      <vt:lpstr>Suggestion for improvement</vt:lpstr>
      <vt:lpstr>PowerPoint Presentation</vt:lpstr>
      <vt:lpstr>Price and Packing Design </vt:lpstr>
      <vt:lpstr>Suggestion for marketing campaigns</vt:lpstr>
      <vt:lpstr>Suggestion for brand ambassador </vt:lpstr>
      <vt:lpstr>Suggestion for Target audience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pranoti malgunkar</dc:creator>
  <cp:lastModifiedBy>pranoti malgunkar</cp:lastModifiedBy>
  <cp:revision>13</cp:revision>
  <dcterms:created xsi:type="dcterms:W3CDTF">2025-09-29T10:13:16Z</dcterms:created>
  <dcterms:modified xsi:type="dcterms:W3CDTF">2025-10-06T07:57:08Z</dcterms:modified>
</cp:coreProperties>
</file>